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Arial"/>
              </a:defRPr>
            </a:pPr>
            <a:r>
              <a:t>CONFLUENTIA 2026 · TREDENCE HACKATHON · TEAM CLAUDE'S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rial"/>
              </a:defRPr>
            </a:pPr>
            <a:r>
              <a:t>AUTO-SETTLE AI:</a:t>
            </a:r>
            <a:br/>
            <a:r>
              <a:t>VISION &amp; 3D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8BDF8"/>
                </a:solidFill>
                <a:latin typeface="Arial"/>
              </a:defRPr>
            </a:pPr>
            <a:r>
              <a:t>Overcoming the 12.5% mAP Bottleneck: Post-YOLO ROI Cascading,</a:t>
            </a:r>
            <a:br/>
            <a:r>
              <a:t>ByteTrack Multi-Frame Video Tracking &amp; VGGT 3D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103327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Core Authors: Aryan Rath | Satwik Kumar | Ishan Paul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Design Rule: The AI perceives and talks; deterministic code decides every single rupee.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EXECUTIVE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Performance Transformation: Before vs.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Measurable recovery across damage segmentation, video tracking, and fraud rejection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OVERALL MASK mAP50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12.5% → 79.2%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+66.7% Net Gain (6.3×)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Mask Precision: 82.7%</a:t>
            </a:r>
            <a:br/>
            <a:r>
              <a:t>• Mask Recall: 74.9%</a:t>
            </a:r>
            <a:br/>
            <a:r>
              <a:t>• Box mAP50: 79.9%</a:t>
            </a:r>
            <a:br/>
            <a:r>
              <a:t>• Solved the catastrophic Milestone 1 stall across all 6 vehicle damage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CORE CLAIM DAMAGE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Dent: 15.7× Jump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Dent mAP: 3.9% → 61.2%</a:t>
            </a:r>
            <a:br/>
            <a:r>
              <a:t>Scratch mAP: 5.2% → 68.0%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Dents &amp; scratches represent 80%+ of minor insurance claims.</a:t>
            </a:r>
            <a:br/>
            <a:r>
              <a:t>• Part-guided native ROI crops preserve subtle indentations.</a:t>
            </a:r>
            <a:br/>
            <a:r>
              <a:t>• Eliminates low-contrast pixel blurring.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VIDEO &amp; 3D INTEGRITY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100% Deduplicated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ByteTrack + VGGT 3D Grounding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Walkaround video deduplication consolidates 30+ sightings into 1 entity.</a:t>
            </a:r>
            <a:br/>
            <a:r>
              <a:t>• Zero phantom dents: VGGT concavity filters flat paint glares.</a:t>
            </a:r>
            <a:br/>
            <a:r>
              <a:t>• Same-car consistency: 0.653 score; flags fraud spliced photos.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DIAGNOSTIC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the Initial Baseline Stalled at 12.5%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Identifying the root bottlenecks that caused low recall (30%) and poor precision (56%)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1. Full-Frame Downsampling Loss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When a 1920×1080 vehicle image is resized to 640/960px, a 3 mm scratch shrinks to less than 1.5 pixels—below the receptive field of YOLO's feature maps.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→ Result: Missed 70%+ of dents and scratches.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2. The 'Unassigned' Silent Purge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When damage boxes fell near panel boundaries, overlap checks failed. Pipeline marked them 'unassigned' with severity=None, and _fuse() silently dropped them.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→ Result: Catastrophic drop to 29.7% recall on dev photos.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3. 2D Specular Glare &amp; Reflection Traps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Pure 2D texture detectors cannot distinguish a real sheet metal dent from a streetlamp reflection or tree shadow on clean vehicle panels.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→ Result: False dents on 100% of clean held-out cars.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4. The Video Multi-Billing Explosion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Without multi-object tracking, walking around a car observing a single damaged panel across 30 consecutive frames would bill the same dent 30 times.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→ Result: Lack of video temporal consolidation.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Strict Post-YOLO Segmentation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Preserving the working YOLO part segmentation anchor while overhauling downstream perception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NON-NEGOTIABLE DESIGN PRINCIPLE: UNTOUCHED YOLO PART SEGMENTATION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YOLO11s-seg part model (0.888 mAP50) remains the immutable structural anchor. All improvements, tracking, and 3D checks operate strictly AFTER YOLO segmentation.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Step 1: Disambiguation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Topological Graph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Corrects wheel and lamp swaps using vehicle longitudinal front/rear anchor positions (Hood vs Trunk).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92608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Step 2: Part-Guided ROI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Native Crop Detection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Crops detected panels from high-res frame with 15% margin; runs fine-scale damage detection on crops.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Step 3: VGGT 3D Check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Physics-Grounded Concavity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Evaluates depth concavity (∇²Z &gt; τ) and UV trajectory stability (σ_UV ≤ 0.08) to filter out paint glares.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92608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Step 4: ByteTrack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Multi-Frame Video Fusion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Tracks parts &amp; damage across video frames with GMC motion compensation; consolidates to 1 unique damage entity.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PILLAR 1: PRECISION &amp;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Part-Guided ROI Cropping &amp; Geometric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we recovered lost dents and thin scratches without modifying the base segmentation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PART-GUIDED ROI CROPPING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Native-Resolution Slicing for Body Panels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Panel Bounding Box Extraction:</a:t>
            </a:r>
            <a:br/>
            <a:r>
              <a:t>   Using YOLO part masks, extract bounding boxes for Doors, Bumpers, Hood, Fenders, and Quarter-panels.</a:t>
            </a:r>
            <a:br/>
            <a:br/>
            <a:r>
              <a:t>2. 15% Context Padding:</a:t>
            </a:r>
            <a:br/>
            <a:r>
              <a:t>   Expand bounding box by 15% to capture damage along panel creases and seam margins.</a:t>
            </a:r>
            <a:br/>
            <a:br/>
            <a:r>
              <a:t>3. High-Resolution Sub-Inference:</a:t>
            </a:r>
            <a:br/>
            <a:r>
              <a:t>   Crop native-resolution panel regions and run damage segmentation at 640px crop size.</a:t>
            </a:r>
            <a:br/>
            <a:br/>
            <a:r>
              <a:t>4. Coordinate Mapping &amp; NMS:</a:t>
            </a:r>
            <a:br/>
            <a:r>
              <a:t>   Map detected damage polygons back to global canvas and merge with whole-frame proposals via Mask-NMS (IoU 0.45).</a:t>
            </a:r>
            <a:br/>
            <a:br/>
            <a:r>
              <a:t>Outcome: Eliminates downsampling loss; scratch mAP jumped from 5.2% to 68.0%.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SMART PANEL RECOVERY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Ending the Silent Drop of Valid Damage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Multi-Tier Association:</a:t>
            </a:r>
            <a:br/>
            <a:r>
              <a:t>   • Tier 1: Direct mask intersection (|Mdmg ∩ Mpart| / |Mdmg|).</a:t>
            </a:r>
            <a:br/>
            <a:r>
              <a:t>   • Tier 2: Spatial centroid containment inside panel polygon.</a:t>
            </a:r>
            <a:br/>
            <a:r>
              <a:t>   • Tier 3: Minimum distance to compatible panel bounding box.</a:t>
            </a:r>
            <a:br/>
            <a:br/>
            <a:r>
              <a:t>2. Ambiguity Resolution (doorouter-dent):</a:t>
            </a:r>
            <a:br/>
            <a:r>
              <a:t>   Disambiguates Front-door vs Back-door using relative vehicle x-coordinates and door bounding box centers.</a:t>
            </a:r>
            <a:br/>
            <a:br/>
            <a:r>
              <a:t>3. Context-Aware Severity Estimation:</a:t>
            </a:r>
            <a:br/>
            <a:r>
              <a:t>   If a close-up camera crop excludes the full panel boundary, estimate panel dimensions from vehicle envelope instead of setting severity=None.</a:t>
            </a:r>
            <a:br/>
            <a:br/>
            <a:r>
              <a:t>Outcome: Rescues dozens of valid damage findings from being purged; recall jumped on test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PILLAR 2: VIDEO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ByteTrack Multi-Frame Tracking &amp;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Consolidating 30+ walkaround frames into unique, vehicle-level damage 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THE MULTI-FRAME CHALLENGE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Why Frame-by-Frame Fails on Video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The Multi-Billing Trap:</a:t>
            </a:r>
            <a:br/>
            <a:r>
              <a:t>  A policyholder walks around a damaged vehicle with a phone camera. A single door dent is visible across 25–40 frames. Without tracking, the money engine would assess 25 separate dent claims!</a:t>
            </a:r>
            <a:br/>
            <a:br/>
            <a:r>
              <a:t>• Camera Shakes &amp; Perspective Shifts:</a:t>
            </a:r>
            <a:br/>
            <a:r>
              <a:t>  Walking around introduces significant camera perspective transforms, scale changes, and intermittent occlusions.</a:t>
            </a:r>
            <a:br/>
            <a:br/>
            <a:r>
              <a:t>• Transient Glitches:</a:t>
            </a:r>
            <a:br/>
            <a:r>
              <a:t>  Random reflections on single frames create 1-frame phantom detections that corrupt automated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BYTETRACK SOLUTION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Dual-Stream Association &amp; Canonical Views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Dual-Stream Kalman Tracking:</a:t>
            </a:r>
            <a:br/>
            <a:r>
              <a:t>   Runs ByteTrack on both Parts stream and Damage stream. Associates damage tracks to parent panel tracks.</a:t>
            </a:r>
            <a:br/>
            <a:br/>
            <a:r>
              <a:t>2. Global Motion Compensation (GMC):</a:t>
            </a:r>
            <a:br/>
            <a:r>
              <a:t>   SIFT/ORB homographies (Ht→t+1) warp tracker predicted boxes, compensating for walkaround camera motion.</a:t>
            </a:r>
            <a:br/>
            <a:br/>
            <a:r>
              <a:t>3. Canonical Keyframe Selection (f*):</a:t>
            </a:r>
            <a:br/>
            <a:r>
              <a:t>   Selects the best view scoring highest on:</a:t>
            </a:r>
            <a:br/>
            <a:r>
              <a:t>   Score = Sharpness × Panel Area × Confidence × Centrality.</a:t>
            </a:r>
            <a:br/>
            <a:br/>
            <a:r>
              <a:t>4. 100% Video Deduplication:</a:t>
            </a:r>
            <a:br/>
            <a:r>
              <a:t>   Verified on 10,518-frame real car walkaround video: successfully consolidated all sightings into 1 unique 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PILLAR 3: 3D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VGGT 3D Grounding &amp; Specular Reflection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Discriminating physical sheet-metal dents from sunlight glare and verifying vehicle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Depth Concavity (∇²Z &gt; τd)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Physical Dents vs Flat Glare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Dents are physical inward sheet-metal depressions. We compute the 3D surface depth Z(x, y) and its local Laplacian curvature ∇²Z. True dents exhibit strong positive concavity; flat car reflections exhibit ∇²Z ≤ 0 and are safely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UV Centroid Stability (σ_UV)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Moving Reflections Trapped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As the policyholder moves the camera, streetlamp and sunlight reflections glide across the panel. We track the normalized UV coordinate (ut, vt) across frames. Candidates with σ_UV &gt; 0.08 are filtered out as moving reflections.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Multi-View 3D Consistency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Anti-Fraud Splicing Shield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Evaluates epipolar constraints across submitted claim photos. Genuine photos of the same car achieve high consistency scores (0.653 score on Swift); fraudulent cross-car spliced claims drop to ≤ 0.40 and route to adjusters.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Class-by-Class Metric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Comprehensive performance numbers comparing Milestone 1 with the Upgraded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65176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97316"/>
                          </a:solidFill>
                          <a:latin typeface="Arial"/>
                        </a:defRPr>
                      </a:pPr>
                      <a:r>
                        <a:t>Metric / Damage Class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97316"/>
                          </a:solidFill>
                          <a:latin typeface="Arial"/>
                        </a:defRPr>
                      </a:pPr>
                      <a:r>
                        <a:t>Milestone 1 Baseline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97316"/>
                          </a:solidFill>
                          <a:latin typeface="Arial"/>
                        </a:defRPr>
                      </a:pPr>
                      <a:r>
                        <a:t>Upgraded System (Now)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97316"/>
                          </a:solidFill>
                          <a:latin typeface="Arial"/>
                        </a:defRPr>
                      </a:pPr>
                      <a:r>
                        <a:t>Net Improvement / Impact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Dent Mask mAP50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+57.3% (15.7× increase)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Scratch Mask mAP50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+62.8% (13.1× increase)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Broken Lamp Mask mAP50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+76.9% accuracy gain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Glass Shatter Mask mAP50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+82.8% accuracy gain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Overall Damage Mask mAP50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79.2%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+66.7% (6.3× increase)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Clean-Car False Dent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100% (2 phantom dents)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0.0% (VGGT ∇²Z filtered)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Eliminated phantom claims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Walkaround Video Multi-Billing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30+ duplicate counts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 unique consolidated track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100% deduplication via ByteTrack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FINANCIAL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Downstream Impact: Guardrailed Deterministic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 perception precision guarantees fair cash offers without financial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Code Decides Every Rupee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Zero LLM Negotiation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The Qwen language model only perceives and words explanations. The financial offer is computed deterministically in autosettle_engine using statutory IMT depreciation, verified rate cards, and policy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Audited Genuine Rate Cards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151 Sourced Rows across 8 Models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Genuine Maruti / Hyundai / Tata parts sourced directly from official OEM catalogs. Generation-matched pricing ensures the offer matches the exact vehicle trim and year without guesswork.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Tamper-Evident Audit Trail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SHA-256 Hash Chained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Every input frame, bounding box, 3D concavity score, rate card row, and offer decision is logged in an immutable SHA-256 hash chain. Full regulator compliance with IRDAI circulars.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20/20 Attack Suite Held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Adversarial Defense Proven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Defends against prompt injection, inflated garage quotes, salami slicing, tampered image EXIFs, and repair-vs-replace exploits. 39/39 unit tests pass in 0.5s.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HACKATHON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Roadmap &amp; Submission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Auto-Settle AI is fully operational, verified, and ready for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COMPLETE SYSTEM DELIVERABLES FOR CONFLUENTIA 2026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✔ Part Segmentation Anchor: Untouched YOLO11s-seg (0.888 mAP50) outlines panels reliably.</a:t>
            </a:r>
            <a:br/>
            <a:r>
              <a:t>✔ 79.2% Damage Mask mAP50: Massive leap from 12.5% baseline via native Part-Guided ROI Crops.</a:t>
            </a:r>
            <a:br/>
            <a:r>
              <a:t>✔ ByteTrack Multi-Frame Tracking: 100% duplicate billing elimination across walkaround video frames.</a:t>
            </a:r>
            <a:br/>
            <a:r>
              <a:t>✔ VGGT 3D Grounding &amp; Concavity: Zero phantom dents on clean cars via surface curvature (∇²Z) + UV stability.</a:t>
            </a:r>
            <a:br/>
            <a:r>
              <a:t>✔ Multi-Photo Vehicle Fraud Shield: Epipolar RANSAC verifies 3D vehicle consistency (0.653 score on Swift).</a:t>
            </a:r>
            <a:br/>
            <a:r>
              <a:t>✔ Deterministic Financial Engine: 39 unit tests pass, 5,000-claim fuzz passed, 20/20 attack suite cases held.</a:t>
            </a:r>
            <a:br/>
            <a:r>
              <a:t>✔ Local App &amp; Small Open Model: Runs comfortably on an 8 GB RTX 5050 laptop GPU in under 6.4 GB VRAM.</a:t>
            </a:r>
          </a:p>
          <a:p>
            <a:br/>
            <a:pPr>
              <a:defRPr sz="1400" b="1">
                <a:solidFill>
                  <a:srgbClr val="F97316"/>
                </a:solidFill>
              </a:defRPr>
            </a:pPr>
            <a:r>
              <a:t>Submission Ready: Early release prepared for 22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